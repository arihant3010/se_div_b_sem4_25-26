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9"/>
  </p:notesMasterIdLst>
  <p:sldIdLst>
    <p:sldId id="256" r:id="rId2"/>
    <p:sldId id="270" r:id="rId3"/>
    <p:sldId id="258" r:id="rId4"/>
    <p:sldId id="275" r:id="rId5"/>
    <p:sldId id="276" r:id="rId6"/>
    <p:sldId id="266" r:id="rId7"/>
    <p:sldId id="277" r:id="rId8"/>
    <p:sldId id="261" r:id="rId9"/>
    <p:sldId id="267" r:id="rId10"/>
    <p:sldId id="262" r:id="rId11"/>
    <p:sldId id="278" r:id="rId12"/>
    <p:sldId id="269" r:id="rId13"/>
    <p:sldId id="272" r:id="rId14"/>
    <p:sldId id="265" r:id="rId15"/>
    <p:sldId id="274" r:id="rId16"/>
    <p:sldId id="268" r:id="rId17"/>
    <p:sldId id="260" r:id="rId18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632" autoAdjust="0"/>
  </p:normalViewPr>
  <p:slideViewPr>
    <p:cSldViewPr>
      <p:cViewPr varScale="1">
        <p:scale>
          <a:sx n="71" d="100"/>
          <a:sy n="71" d="100"/>
        </p:scale>
        <p:origin x="1579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F108BA90-3148-C6D9-3745-FFB3200AE56F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865339-ED25-5FEC-BF1C-7C6EBD29219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A3748E1-2930-B136-B939-B35C4E1F55B9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C2249A1-576C-CF3A-68C2-FBC376DA613C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434E1E5-E757-C703-77AA-520D1BE1FBED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AC9DAA3-3ECE-E8A4-F1DD-8C79213B575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514656F4-0BED-4288-B7DB-1D2431D69D1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4563B68C-9D7B-8095-A41F-8D891FB015C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8AF69F5-9D89-49C8-B017-1BA14AFFCB9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9EDC6B34-009B-FDC1-0BA8-75585D8455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D4BBF8F6-80A4-9C53-5EDB-03D5F1E7637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370EF318-7D22-B46C-F6F0-C4FBA87ABD0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B40BF99-24D2-4209-9113-7A12F31CFBC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D3503707-0093-C347-25B8-0005677973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D3894412-43D5-FFC5-1743-3AAD8846F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1DDA6DE8-DAAB-4B75-714B-AD356B6186F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FB2A54A-4905-4C4A-AB4A-9ABB6050CE28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134F8133-F281-DBF7-B878-BAD02260CF9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5D947079-8876-87BD-9921-35A6991033D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81E50668-9356-69FD-D16E-97F18D3A87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37488B-3013-42B4-8173-BB606575E08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5D2E89C5-E48C-9097-446A-DD9CB896E8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AE93EF6A-C8A3-F331-3ED4-0DB691271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35059A90-19B5-DB28-F18D-A2D0DAC3376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4273D2-F7E7-488B-AE40-70FF879985DA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6B409676-4479-C18B-7F06-FF0BC219D1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06C535AA-D447-CCE9-1336-02859C245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EA751308-79ED-C19E-2409-8FD9678A55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9397C0A-FEDA-465A-82DB-46D05D68B9AA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IN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6431D7CD-E3F9-31AE-17BC-02082A1335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B267E7F-9A49-131F-739B-ED668056E0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6E72157A-1340-D9DB-A4F2-CA0E2B84EAF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371F83-886F-4EDA-B0F8-64E4FCFDFD5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IN" altLang="en-US" sz="1400"/>
          </a:p>
        </p:txBody>
      </p:sp>
      <p:sp>
        <p:nvSpPr>
          <p:cNvPr id="22531" name="Rectangle 1">
            <a:extLst>
              <a:ext uri="{FF2B5EF4-FFF2-40B4-BE49-F238E27FC236}">
                <a16:creationId xmlns:a16="http://schemas.microsoft.com/office/drawing/2014/main" id="{E51AF549-D3E4-DA37-34B0-BB1F9A47B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EC99B45A-3C0D-4F4E-17EB-C2B2B22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BD694F62-943F-B5CE-A637-5C9DECCF1E5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1AC88FC-1493-4186-B3E9-EF7CB0C16F3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IN" altLang="en-US" sz="1400"/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86FC82B2-8D4A-DA8D-C1C0-30B2D8336D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A4223BF-5253-B88D-4ED5-AA5EDF400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457A8599-993B-9A2D-A9A0-98686F1360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BEEBAB-E159-4B82-AF11-106EE7EC266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F6A23993-C59C-A375-5089-7308FC600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B5087F7C-9C0E-D304-9FE9-BB8A74D1B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9D13BA1C-8D16-A81C-BDED-94304FC963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3E141A-DD1A-4935-94A6-A9FBC6C52EB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 altLang="en-US" sz="1400"/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6AF177CF-0B63-417B-43B9-D8CA0C38B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76196E2C-970A-E381-AFBF-E8C155763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6239F670-9DC7-098F-C2C9-B22547BF1A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583402-C3CF-4FCC-98F1-6887B1837B2F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IN" altLang="en-US" sz="1400"/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0FAD4BDB-40F1-020A-DA65-99FF6BE7D8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D5769F02-C57A-C5B6-5288-B6EF49618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67A59C6B-5E33-00FE-CB5A-AD7A4488A84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077A246-297B-4199-84EA-3A9C78B2A76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IN" altLang="en-US" sz="1400"/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B0D84EC8-3B55-8EB1-BEFB-795B45730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2D350093-32FE-6437-9E91-4DA36A2B5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0BFDB798-30F5-085B-74E8-65232894DB4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3E93D9-88CA-4B87-A1A4-3176BAA9033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IN" altLang="en-US" sz="1400"/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E89971C2-6B9C-0F86-F50B-AF0A3D5FFD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1C9F12BD-1EC2-6A1C-965A-4453979ED6C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D7058BC8-BC14-84DB-7B61-9B688B3AF457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2BF673A-CCA0-A04C-8F33-16AD8C109FA8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CE53777-8255-D63A-4768-0EC9D9E570F9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E4C27E5-345C-538B-C75E-1BBCE0F71BE4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DAD638B6-9FB0-8A6B-D508-96DBBCD5E4D2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3A0A0CB3-90B2-E750-912E-8B57FEEB17A0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F7FF62C1-7E9D-32D8-52C3-82E7865364F0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4AB4356A-8B2B-EFDE-05E8-B88375061567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2512AD1F-B2A4-E37B-2830-D524D6C703D9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7B8A0C22-2B1F-A324-1CAB-8C5487D0164E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FB6BD8D6-D8C0-1607-2233-62B5340E8979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DBB638F-7D26-F090-E913-F6BCB4A4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06075-A45B-4670-AD68-4C86EA192821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992FF15-FDD7-9584-71FA-0C61379E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9199445-0B4C-0C90-2297-D0F89912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941ED-F35C-4641-AEAD-48D7736C6C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9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9F614-D250-61DF-78E5-0EF3B2EC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0D1F7-E0C1-43F5-8331-10C81404D3C1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D0CCD-23B9-FCA0-B782-7F74E37A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0EB3-5129-72F3-BE60-BB3FA69B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7DC77-242B-42E8-B318-EE665DE45F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74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607F5-F570-0486-BCE1-4B006DC1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B6CAB-C06B-416F-9DFC-34FF86AB779D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1E137-0276-36BF-DD24-13153CCE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10721-544F-6915-6ED6-6071BF2C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7F1B3-83D0-4586-9529-BBBCF8F877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0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08C6AD-EB7F-7337-2542-30F0FCEA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922F7-1C33-4C73-8FFC-07EA03FA3727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F21074-C625-85C9-D133-088930D3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0F31C2-2E60-7E8C-86E8-AA0F30BB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5BECC-A09D-4A7D-9DE6-8BD00BF0E5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08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81F85C1-4D55-AEC6-634F-636C9A4A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0F2CB-2295-4021-AA58-20B72F6DCE8B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9A2DFAA-D21A-5C63-0F74-76056CA3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89FADC-E849-E93A-DABB-1D4D87E6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33AAA-B36D-4267-98F8-761CDB415F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22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2DE8F9B-EE89-4C08-BF3D-DDDD3669D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45442-B3A5-43E6-B2E6-F3FD99055368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E8EE74-7E4A-5270-CF4B-62D2807A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C5A2D70-7BAD-2F19-8F62-CE66F91E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D4D50-A809-406B-AF6E-895DFA8D84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13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89FA77-B17B-9CB3-7BBA-8AE65D8E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9CB9F0-FBDD-4FFA-9B96-1AFCF7A51500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C61C268-C624-3BF8-E0D9-7C9CF9EE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CAE755-2FA1-A91D-FC1D-F49752D2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5BFB9-A9AC-4F27-A011-B240131163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36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2502AC-5327-AD2A-18FB-6D51A17D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9C65C-4520-4A94-9176-3499375F730B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ECEA86B-CA76-2282-B65E-95C90B47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AA2A26-1B8E-6AC3-742D-A5C722A1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457B9-40D5-4BB5-A528-7129D8BB10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A3EEA9-59A3-BF55-BC08-0ED30A37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283E2-54F8-41F1-BF1B-133229243A65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CF2D9AD-34F9-F35B-87E8-544A759C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B5C8C3-63C8-BEEC-338C-81572B1C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9D92E-F287-4EA6-89FB-275FFC9938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4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898F-7064-175C-BE68-D04EA12C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453D3-0A58-44EF-AA11-3500A65AF1EF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396AF-914A-24A4-6FA2-9D3E3708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D4E0F-2548-563D-C984-DAECD8EF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25FA5-78E3-4F46-866C-D187EA7EBA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60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6A0D67-3506-CF91-8EBC-388DE38ADDCC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560D-D353-1D5F-E404-01C61351290C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E02A5A7-EEA5-5EC6-D0DE-90D3380B6E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91C47-9875-4C66-84C2-42ED7ACF0C04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2249ECD-B73C-9611-1B14-4FDB3BBBEB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703DDE-B0EC-6E5D-E90A-DE9F092B3D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E8B3B-68DE-45D8-BA43-C8A5EDFE49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2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19138-FCEB-C3E7-D9BD-B91C1386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28E70-A197-4E88-85D4-6C3B58C850B3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B001E-CD49-139E-3870-9968C706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7BD88-FCFC-673F-6BE5-55FF7F3F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FEE24-ED93-42FA-A7E8-3975E99667C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952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1FCFC-984E-C4C2-98F8-BA4B970876F0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014CD-65F6-B627-2669-41867D11376B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C8DE808-4429-5525-8194-5F15460136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BA70C-BDDD-45F3-B53C-1F450708453E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31F19A-088C-C1B9-72D3-08C9D36539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F602A14-C7E3-4EDC-1B3A-C15BBFC241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D6457-4317-4D02-A7CB-A588776DA0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21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6CEA6-C2DF-2DED-9830-2991BAB5DD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55B95-1005-4AC4-91D9-EC4DA4E35423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A0630-8A3F-4593-E594-D3A42AFFFF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433B9-B34B-B2E6-4007-23BBBFB4CA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905A8-9A7E-48F2-93BC-3E9380F964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338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55832-DAD8-0F9E-DFB2-63408896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FADFB-430D-4134-82FC-DA4CA5BE064A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2DC65-97A5-C3EB-4C6B-0EE0D82E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C8025-DE41-2906-1804-DDB05719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8DD39-41E0-4983-9081-6EC62C89D6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0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8E40-22B7-C5FB-4E74-1B907626A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A58ED-FE63-4611-987E-B60C255BF860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B0E3-38BD-9557-B1D3-7FC4E040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B8DE4-7541-9B17-CB7D-AF8A16FB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7005F-F6D9-4DD5-90FF-C0A40D3272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20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0D20ED84-43F3-B026-758A-1536CB261329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3C52BF0-38D8-C0E3-BFCA-E41E1652FA6A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E5B9E6-FD7F-2136-4DB0-FF231AEC8437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3495A1-A043-5CBC-E008-CCDDA147BD04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ED79D94-EB2D-1E06-FBAF-83083B3D15C0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28A6D4D-DEDD-37E1-60BE-CB79FBEDA1FA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A586470-84A8-1C5D-57D3-EB400B50008F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9D27D2B-675E-73D0-F94F-3086CC3563C4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A09F363-560A-A955-E36D-47380BCF21C7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897A39C-EDE8-0089-1324-A482E343D9C7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D3532BA-7FF1-C18E-8277-27D1BC0FFF7D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0E551DC9-E954-0101-2042-B7880B073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FC92D437-7CF4-865D-8FC9-C2BBA7306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47CED-A0B7-4450-A4B9-38981927A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7E0BD8-D9AA-49EC-817D-9E174BA2AD56}" type="datetimeFigureOut">
              <a:rPr lang="en-US"/>
              <a:pPr>
                <a:defRPr/>
              </a:pPr>
              <a:t>4/17/2026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F0E80-F815-3F29-9E04-22A58C1D7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2330D-478F-FA62-F3C3-9D4626021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45D1C415-EA81-44BC-95B9-12A06AF398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7" r:id="rId11"/>
    <p:sldLayoutId id="2147483982" r:id="rId12"/>
    <p:sldLayoutId id="2147483988" r:id="rId13"/>
    <p:sldLayoutId id="2147483983" r:id="rId14"/>
    <p:sldLayoutId id="2147483984" r:id="rId15"/>
    <p:sldLayoutId id="2147483985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914699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iel8/6287639/10380310/10740283.pdf" TargetMode="External"/><Relationship Id="rId5" Type="http://schemas.openxmlformats.org/officeDocument/2006/relationships/hyperlink" Target="https://www.ijirid.in/3-5-24Oct/3-5-21-Soham%20Kudale-Sejal%20Pangal-Pratap%20Pawar-Vivek%20Rane-Prof%20Aparna%20Mote-Prof%20Nikita%20Joshi.pdf" TargetMode="External"/><Relationship Id="rId4" Type="http://schemas.openxmlformats.org/officeDocument/2006/relationships/hyperlink" Target="https://ieeexplore.ieee.org/document/9971801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BC5DEE75-40C0-1635-A9CD-A21FA25DC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5D3ED4-36DE-BCC2-FC28-20014CE18E62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8" name="Picture 3">
            <a:extLst>
              <a:ext uri="{FF2B5EF4-FFF2-40B4-BE49-F238E27FC236}">
                <a16:creationId xmlns:a16="http://schemas.microsoft.com/office/drawing/2014/main" id="{7D5CD89D-32CE-F16A-9ECD-D86297C5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9388"/>
            <a:ext cx="7705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Box 1">
            <a:extLst>
              <a:ext uri="{FF2B5EF4-FFF2-40B4-BE49-F238E27FC236}">
                <a16:creationId xmlns:a16="http://schemas.microsoft.com/office/drawing/2014/main" id="{113BC82C-1E53-3F22-FDC0-7F17652BD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730500"/>
            <a:ext cx="85693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/>
              <a:t>SDG 5 (Gender Equality) &amp; SDG 11 (Sustainable Cities and Communities)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Category-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No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Members-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Arihant Chipper (84), Nishit Jain (106), Yashwant Injapuri (102) 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Guide- Prof. Vijesh Nair </a:t>
            </a:r>
          </a:p>
        </p:txBody>
      </p:sp>
      <p:sp>
        <p:nvSpPr>
          <p:cNvPr id="6150" name="Title 7">
            <a:extLst>
              <a:ext uri="{FF2B5EF4-FFF2-40B4-BE49-F238E27FC236}">
                <a16:creationId xmlns:a16="http://schemas.microsoft.com/office/drawing/2014/main" id="{321BBB76-6612-361F-FCF1-33E56AF8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044700"/>
            <a:ext cx="72009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503238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817563" indent="-314325" defTabSz="503238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258888" indent="-250825" defTabSz="503238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763713" indent="-250825" defTabSz="503238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266950" indent="-250825" defTabSz="503238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724150" indent="-250825" defTabSz="503238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3181350" indent="-250825" defTabSz="503238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638550" indent="-250825" defTabSz="503238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4095750" indent="-250825" defTabSz="503238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b="1">
                <a:solidFill>
                  <a:schemeClr val="tx1"/>
                </a:solidFill>
              </a:rPr>
              <a:t>Nirbhaya Path</a:t>
            </a:r>
            <a:endParaRPr lang="en-IN" altLang="en-US" sz="4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9F28A1D-9678-0CAF-96A4-3ECD678A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Outline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250558B-1F72-2EE1-C31A-1784DB02E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990600"/>
            <a:ext cx="9323388" cy="631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EC27956C-E15F-2584-342D-246119067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79388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Introduction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1DC0732A-5A1D-6914-B33C-C7AD0699A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1628775"/>
            <a:ext cx="9251950" cy="55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tx1"/>
                </a:solidFill>
                <a:latin typeface="Source Sans Pro" panose="020B0503030403020204" pitchFamily="34" charset="0"/>
              </a:rPr>
              <a:t>Background &amp; Importance: </a:t>
            </a: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en-US" sz="2800" b="1">
              <a:solidFill>
                <a:schemeClr val="tx1"/>
              </a:solidFill>
              <a:latin typeface="Source Sans Pro" panose="020B0503030403020204" pitchFamily="34" charset="0"/>
            </a:endParaRP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tx1"/>
                </a:solidFill>
                <a:latin typeface="Source Sans Pro" panose="020B0503030403020204" pitchFamily="34" charset="0"/>
              </a:rPr>
              <a:t>Background: </a:t>
            </a:r>
            <a:r>
              <a:rPr lang="en-US" altLang="en-US" sz="2800">
                <a:solidFill>
                  <a:schemeClr val="tx1"/>
                </a:solidFill>
                <a:latin typeface="Source Sans Pro" panose="020B0503030403020204" pitchFamily="34" charset="0"/>
              </a:rPr>
              <a:t>Urban navigation tools traditionally prioritize the shortest or fastest routes, overlooking critical safety parameters.</a:t>
            </a: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chemeClr val="tx1"/>
                </a:solidFill>
                <a:latin typeface="Source Sans Pro" panose="020B0503030403020204" pitchFamily="34" charset="0"/>
              </a:rPr>
              <a:t>Importance</a:t>
            </a:r>
            <a:r>
              <a:rPr lang="en-US" altLang="en-US" sz="2800">
                <a:solidFill>
                  <a:schemeClr val="tx1"/>
                </a:solidFill>
                <a:latin typeface="Source Sans Pro" panose="020B0503030403020204" pitchFamily="34" charset="0"/>
              </a:rPr>
              <a:t>: Rising safety concerns for women commuting alone, especially at night or in unfamiliar areas, necessitate technology that proactively avoids high-risk zones.</a:t>
            </a:r>
            <a:endParaRPr lang="en-US" altLang="en-US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61CD-A85F-E2EF-FB43-B3DC6E7E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Current Challenges</a:t>
            </a:r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7E38E8D1-AF0C-A84C-6098-700761CD7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1513" y="1692275"/>
            <a:ext cx="8496300" cy="48323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</a:rPr>
              <a:t>Most existing safety applications are purely reactive (e.g., manual SOS buttons), offering no preventative measures </a:t>
            </a:r>
            <a:r>
              <a:rPr lang="en-US" altLang="en-US" sz="2800">
                <a:solidFill>
                  <a:schemeClr val="tx1"/>
                </a:solidFill>
                <a:hlinkClick r:id="rId2" action="ppaction://hlinksldjump"/>
              </a:rPr>
              <a:t>[1]</a:t>
            </a:r>
            <a:r>
              <a:rPr lang="en-US" altLang="en-US" sz="2800">
                <a:solidFill>
                  <a:schemeClr val="tx1"/>
                </a:solidFill>
              </a:rPr>
              <a:t>.</a:t>
            </a:r>
          </a:p>
          <a:p>
            <a:pPr marL="0" indent="0" defTabSz="457200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endParaRPr lang="en-US" altLang="en-US" sz="2800">
              <a:solidFill>
                <a:schemeClr val="tx1"/>
              </a:solidFill>
            </a:endParaRP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</a:rPr>
              <a:t>Victims frequently lack the time or physical ability to manually trigger alerts during an active threat </a:t>
            </a:r>
            <a:r>
              <a:rPr lang="en-US" altLang="en-US" sz="2800">
                <a:hlinkClick r:id="rId2" action="ppaction://hlinksldjump"/>
              </a:rPr>
              <a:t>[4]</a:t>
            </a:r>
            <a:r>
              <a:rPr lang="en-US" altLang="en-US" sz="2800">
                <a:solidFill>
                  <a:schemeClr val="tx1"/>
                </a:solidFill>
              </a:rPr>
              <a:t>.</a:t>
            </a:r>
          </a:p>
          <a:p>
            <a:pPr marL="0" indent="0" defTabSz="457200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endParaRPr lang="en-US" altLang="en-US" sz="2800">
              <a:solidFill>
                <a:schemeClr val="tx1"/>
              </a:solidFill>
            </a:endParaRP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</a:rPr>
              <a:t>Lack of dynamic, real-time awareness regarding street safety (e.g., lighting, crowd density, recent crime reports) </a:t>
            </a:r>
            <a:r>
              <a:rPr lang="en-US" altLang="en-US" sz="2800">
                <a:hlinkClick r:id="rId2" action="ppaction://hlinksldjump"/>
              </a:rPr>
              <a:t>[2]</a:t>
            </a:r>
            <a:r>
              <a:rPr lang="en-US" altLang="en-US" sz="280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D81E-1606-444C-3051-4B5C8C4E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Motivation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ADD4-297B-50E2-77E9-0641CB53F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3" y="2381250"/>
            <a:ext cx="8040687" cy="4506913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b="1" dirty="0"/>
              <a:t>Motivation: </a:t>
            </a:r>
            <a:r>
              <a:rPr lang="en-US" sz="2800" dirty="0"/>
              <a:t>The strong need to shift from reactive emergency responses to proactive risk-avoidance using data-driven insights </a:t>
            </a:r>
            <a:r>
              <a:rPr lang="en-US" sz="2800" dirty="0">
                <a:hlinkClick r:id="rId2" action="ppaction://hlinksldjump"/>
              </a:rPr>
              <a:t>[1]</a:t>
            </a:r>
            <a:r>
              <a:rPr lang="en-US" sz="2800" dirty="0"/>
              <a:t>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800" b="1" dirty="0"/>
              <a:t>Objectives: </a:t>
            </a:r>
            <a:r>
              <a:rPr lang="en-US" sz="2800" dirty="0"/>
              <a:t>To develop an automated safe-route prediction engine using machine learning and historical crime data.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</a:rPr>
              <a:t>To implement a hands-free or discreet SOS trigger mechanism </a:t>
            </a:r>
            <a:r>
              <a:rPr lang="en-US" sz="2800" dirty="0">
                <a:hlinkClick r:id="rId2" action="ppaction://hlinksldjump"/>
              </a:rPr>
              <a:t>[4]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US" sz="2800" b="1" dirty="0"/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US" sz="2800" b="1" dirty="0"/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US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DC933C7-71E2-B7DE-4FA4-DBAB8BE89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7EA50C7C-A704-9507-2BB9-6F5B286B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800" b="1"/>
              <a:t>Existing Solutions &amp; Methodologies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800" b="1"/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800" b="1"/>
              <a:t>Current Solutions: </a:t>
            </a:r>
            <a:r>
              <a:rPr lang="en-US" altLang="en-US" sz="2800"/>
              <a:t>Applications like "Raksha" and "I Go Safely" rely on shaking the phone or manual button presses to send GPS coordinates </a:t>
            </a:r>
            <a:r>
              <a:rPr lang="en-US" altLang="en-US" sz="2800">
                <a:hlinkClick r:id="rId3" action="ppaction://hlinksldjump"/>
              </a:rPr>
              <a:t>[3]</a:t>
            </a:r>
            <a:r>
              <a:rPr lang="en-US" altLang="en-US" sz="2800"/>
              <a:t>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800"/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800" b="1"/>
              <a:t>Methodologies Surveyed: </a:t>
            </a:r>
            <a:r>
              <a:rPr lang="en-US" altLang="en-US" sz="2800"/>
              <a:t>Recent research employs algorithms like K-Means clustering </a:t>
            </a:r>
            <a:r>
              <a:rPr lang="en-US" altLang="en-US" sz="2800">
                <a:hlinkClick r:id="rId3" action="ppaction://hlinksldjump"/>
              </a:rPr>
              <a:t>[3]</a:t>
            </a:r>
            <a:r>
              <a:rPr lang="en-US" altLang="en-US" sz="2800"/>
              <a:t> and K-Nearest Neighbors (KNN) </a:t>
            </a:r>
            <a:r>
              <a:rPr lang="en-US" altLang="en-US" sz="2800">
                <a:hlinkClick r:id="rId3" action="ppaction://hlinksldjump"/>
              </a:rPr>
              <a:t>[1]</a:t>
            </a:r>
            <a:r>
              <a:rPr lang="en-US" altLang="en-US" sz="2800"/>
              <a:t> to classify crime zones based on historical datasets.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E8CC8F4A-9DE8-671A-3E85-3EBA86AF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/>
              <a:t>Literature Summary Table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B4C680B-4EAD-1712-A843-DA5E63CF7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6F8C7B-E750-C1E0-38AA-3719ED0A36C6}"/>
              </a:ext>
            </a:extLst>
          </p:cNvPr>
          <p:cNvGraphicFramePr>
            <a:graphicFrameLocks noGrp="1"/>
          </p:cNvGraphicFramePr>
          <p:nvPr/>
        </p:nvGraphicFramePr>
        <p:xfrm>
          <a:off x="487363" y="1331913"/>
          <a:ext cx="9232900" cy="5899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99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Author &amp; Year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Techniques/Method Used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Dataset Used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Key Results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Limitations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7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a-DK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Sandyal et al., 2025 </a:t>
                      </a:r>
                      <a:r>
                        <a:rPr lang="da-DK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[1]</a:t>
                      </a:r>
                      <a:endParaRPr lang="da-DK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K-Nearest Neighbors (KNN), Random Forest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[1]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Crime Data &amp; Geospatial APIs </a:t>
                      </a:r>
                      <a:r>
                        <a:rPr lang="pt-BR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[1]</a:t>
                      </a:r>
                      <a:endParaRPr lang="pt-BR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Prioritizes safety over convenience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[1]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computational overhead for live mobile usage.</a:t>
                      </a:r>
                    </a:p>
                  </a:txBody>
                  <a:tcPr marL="91432" marR="91432" marT="60951" marB="6095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7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a-DK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Kudale et al., 2024 </a:t>
                      </a:r>
                      <a:r>
                        <a:rPr lang="da-DK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[3]</a:t>
                      </a:r>
                      <a:endParaRPr lang="da-DK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K-Means Clustering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[3]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Historical crime incidents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[3]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Effectively categorizes geographic regions by risk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[3]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Lacks real-time dynamic environmental updates.</a:t>
                      </a:r>
                    </a:p>
                  </a:txBody>
                  <a:tcPr marL="91432" marR="91432" marT="60951" marB="6095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66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SafeRoutes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2024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[4]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Unsupervised clustering &amp; GPS Integration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[4]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Public and government crime sources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[4]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Facilitates real-time alerts for deviations into unsafe areas 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hlinkClick r:id="rId3" action="ppaction://hlinksldjump"/>
                        </a:rPr>
                        <a:t>[4]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91432" marR="91432" marT="60951" marB="6095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Dependent on continuous live API pings.</a:t>
                      </a:r>
                    </a:p>
                  </a:txBody>
                  <a:tcPr marL="91432" marR="91432" marT="60951" marB="6095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B28BC9E-999A-908B-5120-796C72A2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Limitations of existing Systems 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F80C666-758D-FC9F-CA5B-D7D16D38A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TextBox 4">
            <a:extLst>
              <a:ext uri="{FF2B5EF4-FFF2-40B4-BE49-F238E27FC236}">
                <a16:creationId xmlns:a16="http://schemas.microsoft.com/office/drawing/2014/main" id="{4F08B701-78FD-E01B-6FE0-B5F270266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908175"/>
            <a:ext cx="8567737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/>
              <a:t>Reactive Nature: </a:t>
            </a:r>
            <a:r>
              <a:rPr lang="en-US" altLang="en-US" sz="2400"/>
              <a:t>Focus heavily on post-incident alerts rather than preventing the user from entering a dangerous area in the first place </a:t>
            </a:r>
            <a:r>
              <a:rPr lang="en-US" altLang="en-US" sz="2400">
                <a:hlinkClick r:id="rId3" action="ppaction://hlinksldjump"/>
              </a:rPr>
              <a:t>[1]</a:t>
            </a:r>
            <a:r>
              <a:rPr lang="en-US" altLang="en-US" sz="2400"/>
              <a:t>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400" b="1"/>
              <a:t>Algorithmic Bias: </a:t>
            </a:r>
            <a:r>
              <a:rPr lang="en-US" altLang="en-US" sz="2400"/>
              <a:t>Navigation APIs optimize for speed/distance, ignoring historical crime hotspots or poorly lit streets </a:t>
            </a:r>
            <a:r>
              <a:rPr lang="en-US" altLang="en-US" sz="2400">
                <a:hlinkClick r:id="rId3" action="ppaction://hlinksldjump"/>
              </a:rPr>
              <a:t>[3]</a:t>
            </a:r>
            <a:r>
              <a:rPr lang="en-US" altLang="en-US" sz="2400"/>
              <a:t>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400" b="1"/>
              <a:t>Trigger Failure:</a:t>
            </a:r>
            <a:r>
              <a:rPr lang="en-US" altLang="en-US" sz="2400"/>
              <a:t> Manual SOS buttons fail in high-panic situations where phone access is restricted </a:t>
            </a:r>
            <a:r>
              <a:rPr lang="en-US" altLang="en-US" sz="2400">
                <a:hlinkClick r:id="rId3" action="ppaction://hlinksldjump"/>
              </a:rPr>
              <a:t>[4]</a:t>
            </a:r>
            <a:r>
              <a:rPr lang="en-US" altLang="en-US" sz="2400"/>
              <a:t>.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D2E6-4AB3-1E2A-2638-5926E07E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7969250" cy="804862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 Problem statement and Objectives</a:t>
            </a:r>
            <a:endParaRPr lang="en-IN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C010442-E090-43FD-EF70-5B7F781906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900" y="1692275"/>
            <a:ext cx="8640763" cy="5616575"/>
          </a:xfrm>
        </p:spPr>
        <p:txBody>
          <a:bodyPr/>
          <a:lstStyle/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/>
              <a:t>Problem Statement:</a:t>
            </a:r>
            <a:r>
              <a:rPr lang="en-US" altLang="en-US" sz="2400"/>
              <a:t> Current navigation applications fail to factor in personal safety, while traditional women's safety apps rely on reactive manual triggers. </a:t>
            </a:r>
            <a:r>
              <a:rPr lang="en-US" altLang="en-US" sz="2400" b="1"/>
              <a:t>"Nirbhaya Path"</a:t>
            </a:r>
            <a:r>
              <a:rPr lang="en-US" altLang="en-US" sz="2400"/>
              <a:t> solves this by integrating machine learning to dynamically predict the safest travel routes based on historical crime data, paired with a discreet, automated emergency response system.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400" b="1"/>
              <a:t>Key Points Addressed (Original Contribution):</a:t>
            </a:r>
            <a:r>
              <a:rPr lang="en-US" altLang="en-US" sz="2400"/>
              <a:t> * Calculating paths using a "Safety Weight" rather than just a “Distance Weight” </a:t>
            </a:r>
            <a:r>
              <a:rPr lang="en-US" altLang="en-US" sz="2400">
                <a:hlinkClick r:id="rId2" action="ppaction://hlinksldjump"/>
              </a:rPr>
              <a:t>[2]</a:t>
            </a:r>
            <a:r>
              <a:rPr lang="en-US" altLang="en-US" sz="2400"/>
              <a:t>.</a:t>
            </a:r>
          </a:p>
          <a:p>
            <a:pPr defTabSz="9144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400"/>
              <a:t>Providing offline capabilities for low-connectivity zones.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GB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5E7D03B6-FB6F-8B1D-DAF2-3C98984F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9827EA7-AFDE-9195-7159-54303F17A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TextBox 2">
            <a:extLst>
              <a:ext uri="{FF2B5EF4-FFF2-40B4-BE49-F238E27FC236}">
                <a16:creationId xmlns:a16="http://schemas.microsoft.com/office/drawing/2014/main" id="{EA6AB9C4-0EDB-4D83-D3BF-B2FDEF1E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731963"/>
            <a:ext cx="8929687" cy="49672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Technical Approach:</a:t>
            </a:r>
          </a:p>
          <a:p>
            <a:pPr marL="0" indent="0" algn="just" defTabSz="914400">
              <a:spcBef>
                <a:spcPct val="20000"/>
              </a:spcBef>
              <a:defRPr/>
            </a:pPr>
            <a:endParaRPr lang="en-US" sz="2400" dirty="0"/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US" sz="2400" dirty="0"/>
              <a:t>Route Generation: Utilizing a modified pathfinding algorithm (e.g., Dijkstra's or A*) where edge weights represent crime density instead of mere distance </a:t>
            </a:r>
            <a:r>
              <a:rPr lang="en-US" sz="2400" dirty="0">
                <a:hlinkClick r:id="rId3" action="ppaction://hlinksldjump"/>
              </a:rPr>
              <a:t>[2]</a:t>
            </a:r>
            <a:r>
              <a:rPr lang="en-US" sz="2400" dirty="0"/>
              <a:t>.</a:t>
            </a:r>
          </a:p>
          <a:p>
            <a:pPr marL="0" indent="0" algn="just" defTabSz="914400">
              <a:spcBef>
                <a:spcPct val="20000"/>
              </a:spcBef>
              <a:defRPr/>
            </a:pPr>
            <a:endParaRPr lang="en-US" sz="2400" dirty="0"/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US" sz="2400" dirty="0"/>
              <a:t>Risk Classification: Applying K-Nearest Neighbors (KNN) to classify user coordinate safety levels in real-time </a:t>
            </a:r>
            <a:r>
              <a:rPr lang="en-US" sz="2400" dirty="0">
                <a:hlinkClick r:id="rId3" action="ppaction://hlinksldjump"/>
              </a:rPr>
              <a:t>[1]</a:t>
            </a:r>
            <a:r>
              <a:rPr lang="en-US" sz="2400" dirty="0"/>
              <a:t>.</a:t>
            </a:r>
          </a:p>
          <a:p>
            <a:pPr marL="0" indent="0" algn="just" defTabSz="914400">
              <a:spcBef>
                <a:spcPct val="20000"/>
              </a:spcBef>
              <a:defRPr/>
            </a:pPr>
            <a:endParaRPr lang="en-US" sz="2400" dirty="0"/>
          </a:p>
          <a:p>
            <a:pPr marL="0" indent="0" algn="just" defTabSz="914400">
              <a:spcBef>
                <a:spcPct val="20000"/>
              </a:spcBef>
              <a:defRPr/>
            </a:pPr>
            <a:r>
              <a:rPr lang="en-US" sz="2400" dirty="0"/>
              <a:t>Automated SOS: Implementing a hardware-level trigger (e.g., volume button sequence) that bypasses the need to unlock the phone to send AES-encrypted location data </a:t>
            </a:r>
            <a:r>
              <a:rPr lang="en-US" sz="2400" dirty="0">
                <a:hlinkClick r:id="rId3" action="ppaction://hlinksldjump"/>
              </a:rPr>
              <a:t>[4]</a:t>
            </a:r>
            <a:r>
              <a:rPr lang="en-US" sz="2400" dirty="0"/>
              <a:t>.</a:t>
            </a:r>
            <a:endParaRPr lang="en-GB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5A3F78C0-3647-C62E-04EF-01C2E4118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/>
              <a:t>Original Work &amp; Value Addition</a:t>
            </a: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08D7EED-5C2A-A7F2-2C7C-71CCE9E8C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TextBox 2">
            <a:extLst>
              <a:ext uri="{FF2B5EF4-FFF2-40B4-BE49-F238E27FC236}">
                <a16:creationId xmlns:a16="http://schemas.microsoft.com/office/drawing/2014/main" id="{DEFE1EA5-2AC4-B218-5055-E07E04469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731963"/>
            <a:ext cx="8929687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</a:pPr>
            <a:r>
              <a:rPr lang="en-US" altLang="en-US" sz="3600" b="1" i="1">
                <a:solidFill>
                  <a:schemeClr val="accent2"/>
                </a:solidFill>
                <a:latin typeface="Sitka Small" pitchFamily="2" charset="0"/>
              </a:rPr>
              <a:t>Unlike standard apps that just share live locations, Nirbhaya Path acts as a preventative shield by actively steering users away from statistically proven high-risk geographical grids.</a:t>
            </a:r>
            <a:endParaRPr lang="en-GB" altLang="en-US" sz="3600" b="1" i="1">
              <a:solidFill>
                <a:schemeClr val="accent2"/>
              </a:solidFill>
              <a:latin typeface="Sitka Small" pitchFamily="2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2147F9-65C4-F57F-AA45-609E8175FEB8}"/>
              </a:ext>
            </a:extLst>
          </p:cNvPr>
          <p:cNvSpPr txBox="1"/>
          <p:nvPr/>
        </p:nvSpPr>
        <p:spPr>
          <a:xfrm>
            <a:off x="1079500" y="466725"/>
            <a:ext cx="72739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3" name="TextBox 4">
            <a:extLst>
              <a:ext uri="{FF2B5EF4-FFF2-40B4-BE49-F238E27FC236}">
                <a16:creationId xmlns:a16="http://schemas.microsoft.com/office/drawing/2014/main" id="{C0A496FE-EB22-28BB-E8DD-E42046F45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187450"/>
            <a:ext cx="9359900" cy="556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b="1"/>
              <a:t>Input/Dataset:</a:t>
            </a:r>
            <a:r>
              <a:rPr lang="en-US" altLang="en-US" sz="2400"/>
              <a:t> Sourced historical geographical crime records (latitude/longitude, timestamp, crime type) and mapping APIs </a:t>
            </a:r>
            <a:r>
              <a:rPr lang="en-US" altLang="en-US" sz="2400">
                <a:hlinkClick r:id="rId2" action="ppaction://hlinksldjump"/>
              </a:rPr>
              <a:t>[1]</a:t>
            </a:r>
            <a:r>
              <a:rPr lang="en-US" altLang="en-US" sz="2400"/>
              <a:t>. </a:t>
            </a:r>
            <a:br>
              <a:rPr lang="en-US" altLang="en-US" sz="2400"/>
            </a:br>
            <a:endParaRPr lang="en-US" altLang="en-US" sz="2400"/>
          </a:p>
          <a:p>
            <a:pPr algn="just">
              <a:lnSpc>
                <a:spcPct val="150000"/>
              </a:lnSpc>
            </a:pPr>
            <a:r>
              <a:rPr lang="en-US" altLang="en-US" sz="2400" b="1"/>
              <a:t>Performance Evaluation Parameters:</a:t>
            </a:r>
            <a:r>
              <a:rPr lang="en-US" altLang="en-US" sz="2400"/>
              <a:t> Accuracy, Precision, Recall, and RMSE (Root Mean Square Error) for the route classification model.</a:t>
            </a:r>
          </a:p>
          <a:p>
            <a:pPr algn="just">
              <a:lnSpc>
                <a:spcPct val="15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b="1"/>
              <a:t>Software/Hardware Setup:</a:t>
            </a:r>
            <a:r>
              <a:rPr lang="en-US" altLang="en-US" sz="2400"/>
              <a:t> Android Studio (Frontend: Kotlin/Java), Python/Flask (Backend ML API), Firebase (Cloud Database), and Google Maps SDK.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685F53D-E02F-1BB3-6BB2-4F9B3493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9D21D87-DF3E-C907-EC84-5EA9B3A65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3FC167EA-1367-3784-6803-D96E0A8E6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900113"/>
            <a:ext cx="1223962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>
            <a:extLst>
              <a:ext uri="{FF2B5EF4-FFF2-40B4-BE49-F238E27FC236}">
                <a16:creationId xmlns:a16="http://schemas.microsoft.com/office/drawing/2014/main" id="{D171F3B9-BB06-52B5-DEC8-47E47B64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869950"/>
            <a:ext cx="1501775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>
            <a:extLst>
              <a:ext uri="{FF2B5EF4-FFF2-40B4-BE49-F238E27FC236}">
                <a16:creationId xmlns:a16="http://schemas.microsoft.com/office/drawing/2014/main" id="{2A578204-FBEB-DA0D-BDCF-482EDF0E3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869950"/>
            <a:ext cx="1514475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8">
            <a:extLst>
              <a:ext uri="{FF2B5EF4-FFF2-40B4-BE49-F238E27FC236}">
                <a16:creationId xmlns:a16="http://schemas.microsoft.com/office/drawing/2014/main" id="{416E298B-FF06-5CF1-06C6-79D9BDC4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75" y="869950"/>
            <a:ext cx="1509713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10">
            <a:extLst>
              <a:ext uri="{FF2B5EF4-FFF2-40B4-BE49-F238E27FC236}">
                <a16:creationId xmlns:a16="http://schemas.microsoft.com/office/drawing/2014/main" id="{D86AB72E-0A95-6A3B-CAE6-E63CCBEA2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788" y="869950"/>
            <a:ext cx="15367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Picture 12">
            <a:extLst>
              <a:ext uri="{FF2B5EF4-FFF2-40B4-BE49-F238E27FC236}">
                <a16:creationId xmlns:a16="http://schemas.microsoft.com/office/drawing/2014/main" id="{1C9BBDC5-D39E-B29C-6C2E-4782ED6E4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3135313"/>
            <a:ext cx="1512887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4" name="Picture 14">
            <a:extLst>
              <a:ext uri="{FF2B5EF4-FFF2-40B4-BE49-F238E27FC236}">
                <a16:creationId xmlns:a16="http://schemas.microsoft.com/office/drawing/2014/main" id="{19C936A6-09FE-2F0E-645B-3A4D825CA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5" y="3117850"/>
            <a:ext cx="1501775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Picture 16">
            <a:extLst>
              <a:ext uri="{FF2B5EF4-FFF2-40B4-BE49-F238E27FC236}">
                <a16:creationId xmlns:a16="http://schemas.microsoft.com/office/drawing/2014/main" id="{DFE1DD4A-DAD3-2347-3C39-CE5432C12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13" y="3098800"/>
            <a:ext cx="1516062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6" name="Picture 18">
            <a:extLst>
              <a:ext uri="{FF2B5EF4-FFF2-40B4-BE49-F238E27FC236}">
                <a16:creationId xmlns:a16="http://schemas.microsoft.com/office/drawing/2014/main" id="{583FED23-F040-2DC5-925D-072BD21D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75" y="3098800"/>
            <a:ext cx="1558925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7" name="Picture 20">
            <a:extLst>
              <a:ext uri="{FF2B5EF4-FFF2-40B4-BE49-F238E27FC236}">
                <a16:creationId xmlns:a16="http://schemas.microsoft.com/office/drawing/2014/main" id="{3AFDBC09-8507-675C-F667-D7890C393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5368925"/>
            <a:ext cx="1500187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Picture 22">
            <a:extLst>
              <a:ext uri="{FF2B5EF4-FFF2-40B4-BE49-F238E27FC236}">
                <a16:creationId xmlns:a16="http://schemas.microsoft.com/office/drawing/2014/main" id="{F967F087-3BD6-6B1A-2204-1FA5E48DD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113" y="5365750"/>
            <a:ext cx="1525587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9" name="Picture 24">
            <a:extLst>
              <a:ext uri="{FF2B5EF4-FFF2-40B4-BE49-F238E27FC236}">
                <a16:creationId xmlns:a16="http://schemas.microsoft.com/office/drawing/2014/main" id="{B1396BF3-CAA3-5F08-B4EE-32D451272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63" y="5410200"/>
            <a:ext cx="1525587" cy="20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0" name="Picture 26">
            <a:extLst>
              <a:ext uri="{FF2B5EF4-FFF2-40B4-BE49-F238E27FC236}">
                <a16:creationId xmlns:a16="http://schemas.microsoft.com/office/drawing/2014/main" id="{BABA0D7A-86E9-3B62-7198-D097F8CDE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5414963"/>
            <a:ext cx="1509712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397904AE-B722-DB7A-3367-A31A0833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6AD0E9F-ED68-3334-D143-82DE19A5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EAC3FB36-B516-7559-D6EE-E814D9210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1838325"/>
            <a:ext cx="8710613" cy="415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400" b="1"/>
              <a:t>Performance Metrics:</a:t>
            </a:r>
            <a:r>
              <a:rPr lang="en-US" altLang="en-US" sz="2400"/>
              <a:t> The KNN model achieved an accuracy of </a:t>
            </a:r>
            <a:r>
              <a:rPr lang="en-US" altLang="en-US" sz="2400" b="1"/>
              <a:t>X%</a:t>
            </a:r>
            <a:r>
              <a:rPr lang="en-US" altLang="en-US" sz="2400"/>
              <a:t> </a:t>
            </a:r>
            <a:r>
              <a:rPr lang="en-US" altLang="en-US" sz="2400" i="1"/>
              <a:t>(fill in your actual metric)</a:t>
            </a:r>
            <a:r>
              <a:rPr lang="en-US" altLang="en-US" sz="2400"/>
              <a:t> in classifying safe vs. unsafe zones.</a:t>
            </a:r>
          </a:p>
          <a:p>
            <a:endParaRPr lang="en-US" altLang="en-US" sz="2400" b="1"/>
          </a:p>
          <a:p>
            <a:r>
              <a:rPr lang="en-US" altLang="en-US" sz="2400" b="1"/>
              <a:t>Visuals:</a:t>
            </a:r>
            <a:r>
              <a:rPr lang="en-US" altLang="en-US" sz="2400"/>
              <a:t> </a:t>
            </a:r>
            <a:r>
              <a:rPr lang="en-US" altLang="en-US" sz="2400" i="1"/>
              <a:t>(Insert a Bar Chart comparing your algorithm's route safety score against a standard Google Maps route).</a:t>
            </a:r>
            <a:endParaRPr lang="en-US" altLang="en-US" sz="2400"/>
          </a:p>
          <a:p>
            <a:endParaRPr lang="en-US" altLang="en-US" sz="2400" b="1"/>
          </a:p>
          <a:p>
            <a:r>
              <a:rPr lang="en-US" altLang="en-US" sz="2400" b="1"/>
              <a:t>Statistical Justification:</a:t>
            </a:r>
            <a:r>
              <a:rPr lang="en-US" altLang="en-US" sz="2400"/>
              <a:t> The modified algorithm increases travel distance by an average of only 12% but reduces exposure to historical crime hotspots by over 80%.</a:t>
            </a:r>
          </a:p>
          <a:p>
            <a:pPr>
              <a:buFontTx/>
              <a:buChar char="•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68BB13B-EDBF-8485-219B-5461AE79F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F5F625A-02E6-01FA-FC01-7D22F440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TextBox 6">
            <a:extLst>
              <a:ext uri="{FF2B5EF4-FFF2-40B4-BE49-F238E27FC236}">
                <a16:creationId xmlns:a16="http://schemas.microsoft.com/office/drawing/2014/main" id="{9323D1D5-3853-80D9-9768-784F4ADF8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979613"/>
            <a:ext cx="7993062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400" b="1"/>
              <a:t>Summary of Outcomes:</a:t>
            </a:r>
            <a:r>
              <a:rPr lang="en-US" altLang="en-US" sz="2400"/>
              <a:t> Successfully developed a dual-purpose system that offers both preventative routing and reactive emergency protocols.</a:t>
            </a:r>
          </a:p>
          <a:p>
            <a:endParaRPr lang="en-US" altLang="en-US" sz="2400"/>
          </a:p>
          <a:p>
            <a:r>
              <a:rPr lang="en-US" altLang="en-US" sz="2400" b="1"/>
              <a:t>Objectives Achieved:</a:t>
            </a:r>
            <a:r>
              <a:rPr lang="en-US" altLang="en-US" sz="2400"/>
              <a:t> Real-time safe route prediction and discreet SOS functionality are fully operational.</a:t>
            </a:r>
          </a:p>
          <a:p>
            <a:endParaRPr lang="en-US" altLang="en-US" sz="2400"/>
          </a:p>
          <a:p>
            <a:r>
              <a:rPr lang="en-US" altLang="en-US" sz="2400" b="1"/>
              <a:t>Scope of Improvement (Future Work):</a:t>
            </a:r>
            <a:r>
              <a:rPr lang="en-US" altLang="en-US" sz="2400"/>
              <a:t> Integration with IoT wearable devices (e.g., smart rings/bracelets) for biometric anomaly detection (heart rate spikes) to trigger automated alerts </a:t>
            </a:r>
            <a:r>
              <a:rPr lang="en-US" altLang="en-US" sz="2400">
                <a:hlinkClick r:id="rId3" action="ppaction://hlinksldjump"/>
              </a:rPr>
              <a:t>[4]</a:t>
            </a:r>
            <a:r>
              <a:rPr lang="en-US" altLang="en-US" sz="2400"/>
              <a:t>.</a:t>
            </a:r>
          </a:p>
          <a:p>
            <a:r>
              <a:rPr lang="en-US" altLang="en-US" sz="2400"/>
              <a:t>Adding crowdsourced real-time safety ratings for streets </a:t>
            </a:r>
            <a:r>
              <a:rPr lang="en-US" altLang="en-US" sz="2400">
                <a:hlinkClick r:id="rId3" action="ppaction://hlinksldjump"/>
              </a:rPr>
              <a:t>[2]</a:t>
            </a:r>
            <a:r>
              <a:rPr lang="en-US" altLang="en-US" sz="2400"/>
              <a:t>.</a:t>
            </a:r>
          </a:p>
          <a:p>
            <a:endParaRPr lang="en-US" altLang="en-US" sz="2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AD15C991-6E19-D883-A06D-C19C645AD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3813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References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8A526A46-4839-C8CD-9ADC-2EACBC82A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Content Placeholder 2">
            <a:extLst>
              <a:ext uri="{FF2B5EF4-FFF2-40B4-BE49-F238E27FC236}">
                <a16:creationId xmlns:a16="http://schemas.microsoft.com/office/drawing/2014/main" id="{F5C336E2-5051-2F0E-7DDA-677019633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971550"/>
            <a:ext cx="9070975" cy="589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buFont typeface="Wingdings 3" panose="05040102010807070707" pitchFamily="18" charset="2"/>
              <a:buNone/>
            </a:pPr>
            <a:r>
              <a:rPr lang="en-US" altLang="en-US" sz="2000"/>
              <a:t>[1] K. S. Sandyal, Anisha, and A. Bansal, "Women Safety Platform with Safe Route Prediction Using Crime Data," </a:t>
            </a:r>
            <a:r>
              <a:rPr lang="en-US" altLang="en-US" sz="2000" i="1"/>
              <a:t>2025 3rd International Conference on Intelligent Data Communication Technologies and Internet of Things (IDCIoT)</a:t>
            </a:r>
            <a:r>
              <a:rPr lang="en-US" altLang="en-US" sz="2000"/>
              <a:t>, Feb. 2025. Available: </a:t>
            </a:r>
            <a:r>
              <a:rPr lang="en-US" altLang="en-US" sz="2000">
                <a:hlinkClick r:id="rId3"/>
              </a:rPr>
              <a:t>https://ieeexplore.ieee.org/document/10914699/</a:t>
            </a:r>
            <a:endParaRPr lang="en-US" altLang="en-US" sz="2000"/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000"/>
              <a:t>[2] "Crime Analysis and Prediction using Machine Learning Algorithms," </a:t>
            </a:r>
            <a:r>
              <a:rPr lang="en-US" altLang="en-US" sz="2000" i="1"/>
              <a:t>2022 IEEE 2nd Mysore Sub Section International Conference (MysuruCon)</a:t>
            </a:r>
            <a:r>
              <a:rPr lang="en-US" altLang="en-US" sz="2000"/>
              <a:t>, Oct. 2022. Available: </a:t>
            </a:r>
            <a:r>
              <a:rPr lang="en-US" altLang="en-US" sz="2000">
                <a:hlinkClick r:id="rId4"/>
              </a:rPr>
              <a:t>https://ieeexplore.ieee.org/document/9971801/</a:t>
            </a:r>
            <a:endParaRPr lang="en-US" altLang="en-US" sz="2000"/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000"/>
              <a:t>[3] S. Kudale, S. Pangal, et al., "Implementation of Safe Route Advisor System Using Machine Learning," </a:t>
            </a:r>
            <a:r>
              <a:rPr lang="en-US" altLang="en-US" sz="2000" i="1"/>
              <a:t>International Journal of Innovative Research in Information Security</a:t>
            </a:r>
            <a:r>
              <a:rPr lang="en-US" altLang="en-US" sz="2000"/>
              <a:t>, vol. 3, no. 5, Oct. 2024. Available: </a:t>
            </a:r>
            <a:r>
              <a:rPr lang="en-US" altLang="en-US" sz="2000">
                <a:hlinkClick r:id="rId5"/>
              </a:rPr>
              <a:t>https://www.ijirid.in/3-5-24Oct/3-5-21-Soham%20Kudale-Sejal%20Pangal-Pratap%20Pawar-Vivek%20Rane-Prof%20Aparna%20Mote-Prof%20Nikita%20Joshi.pdf</a:t>
            </a:r>
            <a:endParaRPr lang="en-US" altLang="en-US" sz="2000"/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000"/>
              <a:t>[4] "SafeRoutes: Charting a Secure Path-A Holistic Approach to Women's Safety Through Advanced Clustering and GPS Integration," </a:t>
            </a:r>
            <a:r>
              <a:rPr lang="en-US" altLang="en-US" sz="2000" i="1"/>
              <a:t>IEEE Access</a:t>
            </a:r>
            <a:r>
              <a:rPr lang="en-US" altLang="en-US" sz="2000"/>
              <a:t>, Jan. 2024. Available: </a:t>
            </a:r>
            <a:r>
              <a:rPr lang="en-US" altLang="en-US" sz="2000">
                <a:hlinkClick r:id="rId6"/>
              </a:rPr>
              <a:t>https://ieeexplore.ieee.org/iel8/6287639/10380310/10740283.pdf</a:t>
            </a:r>
            <a:endParaRPr lang="en-US" altLang="en-US" sz="2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F4F4B390-D364-AF37-A718-12126BA73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488</TotalTime>
  <Words>1215</Words>
  <Application>Microsoft Office PowerPoint</Application>
  <PresentationFormat>Custom</PresentationFormat>
  <Paragraphs>121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Trebuchet MS</vt:lpstr>
      <vt:lpstr>Arial</vt:lpstr>
      <vt:lpstr>Wingdings 3</vt:lpstr>
      <vt:lpstr>Times New Roman</vt:lpstr>
      <vt:lpstr>DejaVu Sans</vt:lpstr>
      <vt:lpstr>Wingdings</vt:lpstr>
      <vt:lpstr>Source Sans Pro</vt:lpstr>
      <vt:lpstr>Noto Sans CJK SC Regular</vt:lpstr>
      <vt:lpstr>Google Sans Text</vt:lpstr>
      <vt:lpstr>Sitka Small</vt:lpstr>
      <vt:lpstr>Facet</vt:lpstr>
      <vt:lpstr>PowerPoint Presentation</vt:lpstr>
      <vt:lpstr>PowerPoint Presentation</vt:lpstr>
      <vt:lpstr>PowerPoint Presentation</vt:lpstr>
      <vt:lpstr>Current Challenges</vt:lpstr>
      <vt:lpstr>Motivation &amp; Objectives</vt:lpstr>
      <vt:lpstr>PowerPoint Presentation</vt:lpstr>
      <vt:lpstr>PowerPoint Presentation</vt:lpstr>
      <vt:lpstr>PowerPoint Presentation</vt:lpstr>
      <vt:lpstr> Problem statement and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Arihant Chipped</cp:lastModifiedBy>
  <cp:revision>53</cp:revision>
  <cp:lastPrinted>1601-01-01T00:00:00Z</cp:lastPrinted>
  <dcterms:created xsi:type="dcterms:W3CDTF">2017-10-25T08:22:14Z</dcterms:created>
  <dcterms:modified xsi:type="dcterms:W3CDTF">2026-04-17T10:55:14Z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